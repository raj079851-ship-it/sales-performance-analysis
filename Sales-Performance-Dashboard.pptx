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arlow"/>
      <p:regular r:id="rId201314"/>
    </p:embeddedFont>
    <p:embeddedFont>
      <p:font typeface="Barlow Bold"/>
      <p:regular r:id="rId201315"/>
    </p:embeddedFont>
    <p:embeddedFont>
      <p:font typeface="Spline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1.png"/><Relationship Id="rId10" Type="http://schemas.openxmlformats.org/officeDocument/2006/relationships/image" Target="../media/image-9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2374007"/>
            <a:ext cx="6179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Sales Performance Dashboard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20012" y="3825577"/>
            <a:ext cx="617978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Regional, categorical, and product-level analysis of sales and profitability — designed to surface actionable insights for growth.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126927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Metrics at a Glance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20012" y="2212677"/>
            <a:ext cx="5247251" cy="678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$2.26M</a:t>
            </a:r>
            <a:endParaRPr lang="en-US" sz="5300" dirty="0"/>
          </a:p>
        </p:txBody>
      </p:sp>
      <p:sp>
        <p:nvSpPr>
          <p:cNvPr id="4" name="Text 2"/>
          <p:cNvSpPr/>
          <p:nvPr/>
        </p:nvSpPr>
        <p:spPr>
          <a:xfrm>
            <a:off x="720012" y="3148707"/>
            <a:ext cx="524725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Total Sales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224432" y="2212677"/>
            <a:ext cx="5247251" cy="678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$226.2K</a:t>
            </a:r>
            <a:endParaRPr lang="en-US" sz="5300" dirty="0"/>
          </a:p>
        </p:txBody>
      </p:sp>
      <p:sp>
        <p:nvSpPr>
          <p:cNvPr id="6" name="Text 4"/>
          <p:cNvSpPr/>
          <p:nvPr/>
        </p:nvSpPr>
        <p:spPr>
          <a:xfrm>
            <a:off x="6224432" y="3148707"/>
            <a:ext cx="524725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Total Profit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20012" y="3948708"/>
            <a:ext cx="5247251" cy="678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10.0%</a:t>
            </a:r>
            <a:endParaRPr lang="en-US" sz="5300" dirty="0"/>
          </a:p>
        </p:txBody>
      </p:sp>
      <p:sp>
        <p:nvSpPr>
          <p:cNvPr id="8" name="Text 6"/>
          <p:cNvSpPr/>
          <p:nvPr/>
        </p:nvSpPr>
        <p:spPr>
          <a:xfrm>
            <a:off x="720012" y="4884738"/>
            <a:ext cx="524725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Profit Margin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224432" y="3948708"/>
            <a:ext cx="5247251" cy="678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$459</a:t>
            </a:r>
            <a:endParaRPr lang="en-US" sz="5300" dirty="0"/>
          </a:p>
        </p:txBody>
      </p:sp>
      <p:sp>
        <p:nvSpPr>
          <p:cNvPr id="10" name="Text 8"/>
          <p:cNvSpPr/>
          <p:nvPr/>
        </p:nvSpPr>
        <p:spPr>
          <a:xfrm>
            <a:off x="6224432" y="4884738"/>
            <a:ext cx="524725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Avg. Order Value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20012" y="5401866"/>
            <a:ext cx="1136125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Four key performance indicators provide a snapshot of overall business health across all regions, categories, and months.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913110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Sales by Region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024559"/>
            <a:ext cx="5124917" cy="36889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3115" y="1998861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Regional Sales Breakdown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353115" y="2490291"/>
            <a:ext cx="5124917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West and East regions lead, together accounting for over 60% of total revenue. South and Central represent growth opportunities.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353115" y="3663057"/>
            <a:ext cx="5124917" cy="1532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West: $0.71M — top performer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East: $0.67M — strong second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Central: $0.49M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South: $0.39M — lowest sales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913110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Profit by Region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20012" y="1998861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Profit Distribution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20012" y="2490291"/>
            <a:ext cx="5124917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Profit mirrors sales distribution closely, with West and East generating the highest returns. All regions maintain a consistent ~10% profit margin.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0012" y="3663057"/>
            <a:ext cx="5124917" cy="1532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West: $71K profit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East: $67K profit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Central: $49K profit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South: $39K profit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3115" y="2024559"/>
            <a:ext cx="5124917" cy="36889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913110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Sales by Category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024559"/>
            <a:ext cx="5124917" cy="36889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3115" y="1998861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Category Mix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353115" y="2490291"/>
            <a:ext cx="5124917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Sales are evenly distributed across all three categories. Technology leads slightly at 36.6%, but no single category dominates — a sign of a diversified portfolio.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353115" y="3663057"/>
            <a:ext cx="5124917" cy="1131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Technology: 36.6%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Furniture: 32.2%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Office Supplies: 31.2%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65745"/>
            <a:ext cx="1075167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Profit Trend Over Time</a:t>
            </a:r>
            <a:endParaRPr lang="en-US" sz="1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954286"/>
            <a:ext cx="10751670" cy="60209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7033121"/>
            <a:ext cx="11361255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Profit grew steadily from $219.2K in January to $226.2K in November 2018 — a consistent upward trajectory throughout the year.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898" y="2495153"/>
            <a:ext cx="6179784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Sales by State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5291898" y="3375223"/>
            <a:ext cx="617978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geographic view of sales distribution across the United States, with states color-coded by sales volume. Regional concentration aligns with West and East dominance seen in regional charts.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913110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Top Products by Profit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024559"/>
            <a:ext cx="5124917" cy="36889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3115" y="1998861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Product Profit Leaders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353115" y="2490291"/>
            <a:ext cx="5124917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Canon imageCLASS 2200 dominates with $6.2K profit — more than double the next product. The top 7 products represent the highest-value items to prioritize in sales and inventory planning.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353115" y="4038501"/>
            <a:ext cx="5124917" cy="1131491"/>
          </a:xfrm>
          <a:prstGeom prst="roundRect">
            <a:avLst>
              <a:gd name="adj" fmla="val 27274"/>
            </a:avLst>
          </a:prstGeom>
          <a:solidFill>
            <a:srgbClr val="00805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791" y="4356894"/>
            <a:ext cx="257169" cy="205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21634" y="4275038"/>
            <a:ext cx="4250723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Canon imageCLASS alone accounts for ~2.7% of total profit.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620216"/>
            <a:ext cx="10751670" cy="419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5 Tactical Recommendations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12" y="1261765"/>
            <a:ext cx="10751670" cy="9064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1521" y="1573312"/>
            <a:ext cx="226610" cy="2832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454312" y="1431826"/>
            <a:ext cx="9847314" cy="209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Focus on High-Performing Regions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454312" y="1708150"/>
            <a:ext cx="9847314" cy="209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Double down on West and East, which drive 60%+ of revenue.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012" y="2279154"/>
            <a:ext cx="10751670" cy="9064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1521" y="2590701"/>
            <a:ext cx="226610" cy="2832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454312" y="2449215"/>
            <a:ext cx="9847314" cy="209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Reassess Underperforming Products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454312" y="2725539"/>
            <a:ext cx="9847314" cy="209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Review low-margin items to improve or discontinue.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0012" y="3296543"/>
            <a:ext cx="10751670" cy="9064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1521" y="3608090"/>
            <a:ext cx="226610" cy="2832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1454312" y="3466604"/>
            <a:ext cx="9847314" cy="209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Optimize Discount Strategies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454312" y="3742928"/>
            <a:ext cx="9847314" cy="209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Protect the 10% margin by tightening discount policies.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0012" y="4313932"/>
            <a:ext cx="10751670" cy="90646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21521" y="4625479"/>
            <a:ext cx="226610" cy="2832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1454312" y="4483993"/>
            <a:ext cx="9847314" cy="209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Leverage Seasonal Demand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454312" y="4760317"/>
            <a:ext cx="9847314" cy="209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Align promotions and inventory with seasonal profit trends.</a:t>
            </a:r>
            <a:endParaRPr lang="en-US" sz="11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0012" y="5331321"/>
            <a:ext cx="10751670" cy="90646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21521" y="5642868"/>
            <a:ext cx="226610" cy="2832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5</a:t>
            </a:r>
            <a:endParaRPr lang="en-US" sz="1750" dirty="0"/>
          </a:p>
        </p:txBody>
      </p:sp>
      <p:sp>
        <p:nvSpPr>
          <p:cNvPr id="21" name="Text 14"/>
          <p:cNvSpPr/>
          <p:nvPr/>
        </p:nvSpPr>
        <p:spPr>
          <a:xfrm>
            <a:off x="1454312" y="5501382"/>
            <a:ext cx="9847314" cy="209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Prioritize High-Value Products &amp; Customers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454312" y="5777706"/>
            <a:ext cx="9847314" cy="209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Focus on top profit drivers like the Canon imageCLASS 2200.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898" y="875109"/>
            <a:ext cx="6179784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Conclusion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5291898" y="1755180"/>
            <a:ext cx="6179784" cy="1646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Data-driven analysis reveals clear opportunities: concentrate resources on West and East regions, protect margins through smarter discounting, and prioritize top-profit products. By acting on these insights, the business can systematically improve sales performance and profitability.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291898" y="3632597"/>
            <a:ext cx="6179784" cy="2350294"/>
          </a:xfrm>
          <a:prstGeom prst="roundRect">
            <a:avLst>
              <a:gd name="adj" fmla="val 13130"/>
            </a:avLst>
          </a:prstGeom>
          <a:solidFill>
            <a:srgbClr val="0A081B"/>
          </a:solidFill>
          <a:ln w="25399">
            <a:solidFill>
              <a:srgbClr val="16FFB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17297" y="3657997"/>
            <a:ext cx="3064493" cy="1149747"/>
          </a:xfrm>
          <a:custGeom>
            <a:avLst/>
            <a:gdLst/>
            <a:ahLst/>
            <a:cxnLst/>
            <a:rect l="l" t="t" r="r" b="b"/>
            <a:pathLst>
              <a:path w="3064493" h="1149747">
                <a:moveTo>
                  <a:pt x="257169" y="0"/>
                </a:moveTo>
                <a:lnTo>
                  <a:pt x="3064493" y="0"/>
                </a:lnTo>
                <a:lnTo>
                  <a:pt x="3064493" y="1149747"/>
                </a:lnTo>
                <a:lnTo>
                  <a:pt x="0" y="1149747"/>
                </a:lnTo>
                <a:lnTo>
                  <a:pt x="0" y="257175"/>
                </a:lnTo>
                <a:arcTo hR="257175" wR="257169" stAng="10800000" swAng="5400000"/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7" name="Text 4"/>
          <p:cNvSpPr/>
          <p:nvPr/>
        </p:nvSpPr>
        <p:spPr>
          <a:xfrm>
            <a:off x="5522973" y="3863677"/>
            <a:ext cx="265314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$2.26M Sales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5522973" y="4272855"/>
            <a:ext cx="2653142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Total revenue baseline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381790" y="3657997"/>
            <a:ext cx="3064493" cy="1149747"/>
          </a:xfrm>
          <a:custGeom>
            <a:avLst/>
            <a:gdLst/>
            <a:ahLst/>
            <a:cxnLst/>
            <a:rect l="l" t="t" r="r" b="b"/>
            <a:pathLst>
              <a:path w="3064493" h="1149747">
                <a:moveTo>
                  <a:pt x="0" y="0"/>
                </a:moveTo>
                <a:lnTo>
                  <a:pt x="2807324" y="0"/>
                </a:lnTo>
                <a:arcTo hR="257175" wR="257169" stAng="16200000" swAng="5400000"/>
                <a:lnTo>
                  <a:pt x="3064493" y="1149747"/>
                </a:lnTo>
                <a:lnTo>
                  <a:pt x="0" y="1149747"/>
                </a:lnTo>
                <a:lnTo>
                  <a:pt x="0" y="0"/>
                </a:lnTo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10" name="Shape 7"/>
          <p:cNvSpPr/>
          <p:nvPr/>
        </p:nvSpPr>
        <p:spPr>
          <a:xfrm>
            <a:off x="8381790" y="3657997"/>
            <a:ext cx="25399" cy="1149747"/>
          </a:xfrm>
          <a:prstGeom prst="roundRect">
            <a:avLst>
              <a:gd name="adj" fmla="val 50001"/>
            </a:avLst>
          </a:prstGeom>
          <a:solidFill>
            <a:srgbClr val="0FC3C0"/>
          </a:solidFill>
          <a:ln/>
        </p:spPr>
      </p:sp>
      <p:sp>
        <p:nvSpPr>
          <p:cNvPr id="11" name="Text 8"/>
          <p:cNvSpPr/>
          <p:nvPr/>
        </p:nvSpPr>
        <p:spPr>
          <a:xfrm>
            <a:off x="8587466" y="3863677"/>
            <a:ext cx="265314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10% Margin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587466" y="4272855"/>
            <a:ext cx="2653142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Target to protect &amp; grow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317297" y="4807744"/>
            <a:ext cx="6128986" cy="1149747"/>
          </a:xfrm>
          <a:custGeom>
            <a:avLst/>
            <a:gdLst/>
            <a:ahLst/>
            <a:cxnLst/>
            <a:rect l="l" t="t" r="r" b="b"/>
            <a:pathLst>
              <a:path w="6128986" h="1149747">
                <a:moveTo>
                  <a:pt x="0" y="0"/>
                </a:moveTo>
                <a:lnTo>
                  <a:pt x="6128986" y="0"/>
                </a:lnTo>
                <a:lnTo>
                  <a:pt x="6128986" y="892572"/>
                </a:lnTo>
                <a:arcTo hR="257175" wR="257169" stAng="0" swAng="5400000"/>
                <a:lnTo>
                  <a:pt x="257169" y="1149747"/>
                </a:lnTo>
                <a:arcTo hR="257175" wR="257169" stAng="5400000" swAng="5400000"/>
                <a:lnTo>
                  <a:pt x="0" y="0"/>
                </a:lnTo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14" name="Shape 11"/>
          <p:cNvSpPr/>
          <p:nvPr/>
        </p:nvSpPr>
        <p:spPr>
          <a:xfrm>
            <a:off x="5317297" y="4807744"/>
            <a:ext cx="6128986" cy="25400"/>
          </a:xfrm>
          <a:prstGeom prst="roundRect">
            <a:avLst>
              <a:gd name="adj" fmla="val 49999"/>
            </a:avLst>
          </a:prstGeom>
          <a:solidFill>
            <a:srgbClr val="1D8DCD"/>
          </a:solidFill>
          <a:ln/>
        </p:spPr>
      </p:sp>
      <p:sp>
        <p:nvSpPr>
          <p:cNvPr id="15" name="Text 12"/>
          <p:cNvSpPr/>
          <p:nvPr/>
        </p:nvSpPr>
        <p:spPr>
          <a:xfrm>
            <a:off x="5522973" y="5013424"/>
            <a:ext cx="571763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Action Now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5522973" y="5422602"/>
            <a:ext cx="571763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Turn insights into results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2026-09-12T06:37:20Z</dcterms:created>
  <dcterms:modified xsi:type="dcterms:W3CDTF">2026-09-12T06:37:20Z</dcterms:modified>
</cp:coreProperties>
</file>